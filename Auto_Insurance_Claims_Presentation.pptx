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2937"/>
                </a:solidFill>
                <a:latin typeface="Arial"/>
              </a:defRPr>
            </a:pPr>
            <a:r>
              <a:t>Auto Insurance Claims Cost Modeling</a:t>
            </a:r>
          </a:p>
          <a:p>
            <a:pPr algn="l">
              <a:spcBef>
                <a:spcPts val="1200"/>
              </a:spcBef>
              <a:defRPr sz="2000">
                <a:solidFill>
                  <a:srgbClr val="10B981"/>
                </a:solidFill>
                <a:latin typeface="Arial"/>
              </a:defRPr>
            </a:pPr>
            <a:r>
              <a:t>Optimizing Risk Pricing &amp; Underwriting through Advanced Machine Learning</a:t>
            </a:r>
          </a:p>
          <a:p>
            <a:pPr algn="l">
              <a:spcBef>
                <a:spcPts val="4800"/>
              </a:spcBef>
              <a:defRPr sz="1400">
                <a:solidFill>
                  <a:srgbClr val="4B5563"/>
                </a:solidFill>
                <a:latin typeface="Arial"/>
              </a:defRPr>
            </a:pPr>
            <a:r>
              <a:t>Prepared for: HR Assessment &amp; Pricing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Data Understanding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Exploration &amp; Cleaning of 1,000 Claim Records: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Categorical Imputation: Missing values represented by '?' in collision_type (178), property_damage (360), and police_report_available (343) were mapped to 'UNKNOWN'. These missing values hold predictive underwriting value.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Temporal Engineering: Extracted policy tenure at time of claim (incident_date - policy_bind_date) and vehicle age (incident_year - auto_year) to represent exposure.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Preprocessing Pipelines: Standardized numerical inputs (StandardScaler) and transformed categorical inputs natively (CatBoost/LightGBM) or via dummy columns (One-Hot Encoding).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Feature Selection &amp; Leakage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Target Leakage vs. Holdout Validation Splitting: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Prevention of Target Leakage: Dropped injury_claim, property_claim, and vehicle_claim. Since they sum exactly to total_claim_amount, including them renders the model unusable at claim registration time. Dropped fraud_reported because fraud determination occurs post-incident.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Data Split Integrity: Split the dataset (80/20 train/test) before any scaling, encoding, or parameter calculations. Preprocessing transformers were fit strictly on the training set to prevent information leakage.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Key Feature Drivers: Identified collision_type_UNKNOWN (representing vehicle theft/parked car non-collisions) as the most vital feature, followed by policy annual premium, tenure, age, and vehicle 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Model Comparison &amp; Benchmarking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695"/>
                <a:gridCol w="1943100"/>
                <a:gridCol w="1943100"/>
                <a:gridCol w="1943100"/>
                <a:gridCol w="19431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RMSE ($)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RMSE ($)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R² (%)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MAPE (%)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13,316.62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15,298.23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64.83%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39.74%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13,908.62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15,335.97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64.66%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28.39%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10,878.05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14,356.23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69.03%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27.00%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Gradient Boosting (sklearn)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12,686.25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14,394.83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30.56%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LightGBM (Advanced)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7,040.37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15,502.77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63.89%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26.82%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XGBoost (Advanced)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4,004.81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15,275.09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64.94%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29.31%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CatBoost (Winner)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14,725.86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14,139.60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69.96%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25.33%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Winning Model &amp;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Why CatBoost Regressor is the Optimal Choice: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Exceptional Generalization: XGBoost overfit the small dataset heavily, achieving 97.72% Train R² but dropping to 64.94% Test R². CatBoost used Symmetric Trees as a regularizer, maintaining balanced training/testing metrics (Train RMSE: $14.7k, Test RMSE: $14.1k).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Native Categorical Support: Processes high-cardinality features like auto_model and insured_hobbies natively using Ordered Target Statistics, avoiding overfitting issues caused by one-hot encoding on small datasets.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Log-scale Modeling: Predicting on a log-transformed target (y_log = log1p(y)) compressed right-skewed claims distribution, stabilizing predictions and mitigating the influence of extreme cost outliers.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Actionable Pricing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Translating Model Insights into Actuarial Pricing Strategy: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Surcharge for Risky Hobbies: Policyholders listing chess (82.6% fraud rate) or cross-fit (74.3% fraud rate) exhibit highly inflated claim amounts ($54.4k and $60.7k averages). Underwriters should introduce premium surcharges or mandatory review triggers for these segments.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Low-Risk Hobby Discounts: Hobbies like camping (9.1% fraud) and kayaking (9.3% fraud) represent extremely low exposure risk. Offering premium discounts can help acquire these highly profitable profiles.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Incident Characteristics: Scale premiums dynamically based on the policyholder's collision rate rather than general claims. Multi-vehicle collisions average $62.9k, whereas thefts/parked car incidents average only $5.4k.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Operationalization &amp; Real-World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Integrating ML Decisions into Daily Underwriting Operations: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FastAPI Real-time Prediction Service: Containerize the trained CatBoost pipeline using Docker. Expose a REST API endpoint /predict/claim-amount that integrates with core claims management software (e.g. Guidewire).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Underwriter Streamlit Dashboard: Provide underwriters and claims adjusters with an interactive web UI. Adjusters can mock policy variables, view risk distributions, and receive instant claims cost predictions.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Model Governance: Track prediction drift and data drift (e.g., shifts in hobby frequencies or vehicle ages). Execute monthly retraining pipelines triggered automatically in Apache Airflow.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Analysis Assumptions &amp; Model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Critical Project Guardrails: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Core Assumptions: Assumes stationarity (claims distribution shapes from 2015 hold true for future periods). Assumes '?' missing indicators in collision data are Not Missing At Random (MNAR) and represent non-collision incidents.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Data Scale &amp; Age Limitations: The dataset is small (1,000 rows), limiting capacity to model rare event claim tails. The records are from 2015; historical repair costs, parts inflation, and vehicle tech have shifted significantly since.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Lack of Frequency Exposure: The model predicts cost GIVEN a claim has occurred (severity). We lack policy exposure metrics (annual mileage, driver telematics, location hazard ratings) to predict the frequency (probability) of a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Future Considerations: 6-Month Claims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F2937"/>
                </a:solidFill>
              </a:defRPr>
            </a:pPr>
            <a:r>
              <a:t>Transitioning to a 6-Month Predictive Horizon: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Additional Data Needed: (1) Macroeconomic data: parts and labor cost inflation indexes to scale claims costs. (2) Exposure variables: active vehicle-months, average miles driven, driver telematics (speeding events). (3) External conditions: seasonal weather forecasts (winter storm index, storm season).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Updating the Validation Approach: Standard random K-fold cross-validation will suffer from temporal leakage. We must transition to a Time-Series Split (Walk-Forward validation) where training is capped at month T and validation runs on months T to T+6.</a:t>
            </a:r>
          </a:p>
          <a:p>
            <a:pPr>
              <a:spcBef>
                <a:spcPts val="1200"/>
              </a:spcBef>
              <a:defRPr sz="1600">
                <a:solidFill>
                  <a:srgbClr val="4B5563"/>
                </a:solidFill>
              </a:defRPr>
            </a:pPr>
            <a:r>
              <a:t>• Frequency-Severity Framework: Rather than a single regression model, we should implement a two-step framework: (1) A Frequency model (Poisson/Tweedie GLM) to predict claim counts over the next 6 months. (2) A Severity model (CatBoost) to predict cost. Expected claims cost = Frequency × Severity.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